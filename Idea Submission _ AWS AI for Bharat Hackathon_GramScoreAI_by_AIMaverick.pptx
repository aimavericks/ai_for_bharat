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Manrope SemiBold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103842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113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8652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9639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9658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8469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1417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5256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577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8906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2755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4741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26036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63" y="3218086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</a:t>
            </a:r>
            <a:r>
              <a:rPr lang="en-GB" sz="1600" dirty="0" smtClean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: </a:t>
            </a:r>
            <a:r>
              <a:rPr lang="en-GB" sz="1600" dirty="0" err="1" smtClean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GramScore</a:t>
            </a:r>
            <a:r>
              <a:rPr lang="en-GB" sz="1600" dirty="0" smtClean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AI by </a:t>
            </a:r>
            <a:r>
              <a:rPr lang="en-GB" sz="1600" dirty="0" err="1" smtClean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AIMaverick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63" y="3869504"/>
            <a:ext cx="8616482" cy="127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</a:t>
            </a:r>
            <a:r>
              <a:rPr lang="en-GB" sz="1600" dirty="0" smtClean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: </a:t>
            </a:r>
            <a:endParaRPr lang="en-GB" sz="1200" dirty="0" smtClean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lnSpc>
                <a:spcPct val="70000"/>
              </a:lnSpc>
            </a:pPr>
            <a:r>
              <a:rPr lang="en-IN" sz="1200" dirty="0" smtClean="0"/>
              <a:t>Over </a:t>
            </a:r>
            <a:r>
              <a:rPr lang="en-IN" sz="1200" dirty="0"/>
              <a:t>60% of rural India lacks access to fair and timely credit because traditional scoring systems ignore seasonality, climate volatility, and informal </a:t>
            </a:r>
            <a:r>
              <a:rPr lang="en-IN" sz="1200" dirty="0" smtClean="0"/>
              <a:t>livelihoods. As </a:t>
            </a:r>
            <a:r>
              <a:rPr lang="en-IN" sz="1200" dirty="0"/>
              <a:t>a result, deserving borrowers are denied loans, while lenders face rising NPAs due to blind risk </a:t>
            </a:r>
            <a:r>
              <a:rPr lang="en-IN" sz="1200" dirty="0" smtClean="0"/>
              <a:t>assessment. India </a:t>
            </a:r>
            <a:r>
              <a:rPr lang="en-IN" sz="1200" dirty="0"/>
              <a:t>needs an AI-powered, explainable rural credit intelligence system that understands ground realities — not just credit history.</a:t>
            </a:r>
          </a:p>
          <a:p>
            <a:pPr lvl="0">
              <a:lnSpc>
                <a:spcPct val="70000"/>
              </a:lnSpc>
            </a:pPr>
            <a:endParaRPr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54267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</a:t>
            </a:r>
            <a:r>
              <a:rPr lang="en-GB" sz="1600" dirty="0" smtClean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: Rohit Kumar Akula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0" y="462441"/>
            <a:ext cx="5815173" cy="4444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sz="1600" b="1" dirty="0" err="1" smtClean="0"/>
              <a:t>GramScore</a:t>
            </a:r>
            <a:r>
              <a:rPr lang="en-IN" sz="1600" b="1" dirty="0" smtClean="0"/>
              <a:t> </a:t>
            </a:r>
            <a:r>
              <a:rPr lang="en-IN" sz="1600" b="1" dirty="0"/>
              <a:t>AI – Climate-Aware Credit Intelligence for Bharat</a:t>
            </a:r>
            <a:endParaRPr lang="en-GB" sz="16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r>
              <a:rPr lang="en-IN" sz="1600" b="1" dirty="0" err="1"/>
              <a:t>GramScore</a:t>
            </a:r>
            <a:r>
              <a:rPr lang="en-IN" sz="1600" b="1" dirty="0"/>
              <a:t> AI</a:t>
            </a:r>
            <a:r>
              <a:rPr lang="en-IN" sz="1600" dirty="0"/>
              <a:t> is an AI-powered alternative credit intelligence platform built specifically for rural India.</a:t>
            </a:r>
          </a:p>
          <a:p>
            <a:r>
              <a:rPr lang="en-IN" sz="1600" dirty="0"/>
              <a:t>It combines </a:t>
            </a:r>
            <a:r>
              <a:rPr lang="en-IN" sz="1600" b="1" dirty="0"/>
              <a:t>climate data, crop cycles, </a:t>
            </a:r>
            <a:r>
              <a:rPr lang="en-IN" sz="1600" b="1" dirty="0" err="1"/>
              <a:t>mandi</a:t>
            </a:r>
            <a:r>
              <a:rPr lang="en-IN" sz="1600" b="1" dirty="0"/>
              <a:t> price trends, and livelihood signals</a:t>
            </a:r>
            <a:r>
              <a:rPr lang="en-IN" sz="1600" dirty="0"/>
              <a:t> to assess real repayment capacity — not just credit history.</a:t>
            </a:r>
          </a:p>
          <a:p>
            <a:r>
              <a:rPr lang="en-IN" sz="1600" dirty="0"/>
              <a:t>Using </a:t>
            </a:r>
            <a:r>
              <a:rPr lang="en-IN" sz="1600" b="1" dirty="0"/>
              <a:t>explainable AI</a:t>
            </a:r>
            <a:r>
              <a:rPr lang="en-IN" sz="1600" dirty="0"/>
              <a:t>, it generates transparent and actionable credit risk scores that help financial institutions lend faster, safer, and more inclusively</a:t>
            </a:r>
            <a:r>
              <a:rPr lang="en-IN" sz="1600" dirty="0" smtClean="0"/>
              <a:t>.</a:t>
            </a:r>
          </a:p>
          <a:p>
            <a:endParaRPr lang="en-IN" sz="1600" b="1" dirty="0" smtClean="0"/>
          </a:p>
          <a:p>
            <a:r>
              <a:rPr lang="en-IN" sz="1600" b="1" dirty="0" smtClean="0"/>
              <a:t>What </a:t>
            </a:r>
            <a:r>
              <a:rPr lang="en-IN" sz="1600" b="1" dirty="0"/>
              <a:t>It Enables: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Smarter rural loan approvals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Reduced NPAs through contextual risk assessment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Faster underwriting decisions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Financial inclusion at scale</a:t>
            </a:r>
          </a:p>
          <a:p>
            <a:endParaRPr lang="en-IN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833" y="698642"/>
            <a:ext cx="3041150" cy="36370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123772" y="449738"/>
            <a:ext cx="622386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 smtClean="0"/>
              <a:t>Existing </a:t>
            </a:r>
            <a:r>
              <a:rPr lang="en-IN" sz="1200" b="1" dirty="0"/>
              <a:t>Systems</a:t>
            </a:r>
            <a:r>
              <a:rPr lang="en-IN" sz="1200" b="1" dirty="0" smtClean="0"/>
              <a:t>:</a:t>
            </a:r>
          </a:p>
          <a:p>
            <a:endParaRPr lang="en-IN" sz="12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200" dirty="0"/>
              <a:t>Urban credit bureau dependent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200" dirty="0"/>
              <a:t>Ignore seasonality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200" dirty="0"/>
              <a:t>Ignore crop </a:t>
            </a:r>
            <a:r>
              <a:rPr lang="en-IN" sz="1200" dirty="0" smtClean="0"/>
              <a:t>risks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200" dirty="0" smtClean="0"/>
              <a:t>Not explainable</a:t>
            </a:r>
            <a:endParaRPr lang="en-IN" sz="1200" dirty="0"/>
          </a:p>
          <a:p>
            <a:endParaRPr lang="en-IN" sz="1200" dirty="0" smtClean="0"/>
          </a:p>
          <a:p>
            <a:r>
              <a:rPr lang="en-IN" sz="1200" b="1" dirty="0" smtClean="0"/>
              <a:t>Our </a:t>
            </a:r>
            <a:r>
              <a:rPr lang="en-IN" sz="1200" b="1" dirty="0"/>
              <a:t>Solution: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200" dirty="0"/>
              <a:t>Climate-aware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200" dirty="0"/>
              <a:t>Crop-cycle-aware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200" dirty="0"/>
              <a:t>Explainable AI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200" dirty="0"/>
              <a:t>Designed for rural India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200" dirty="0"/>
              <a:t>API-first scalable infrastructure</a:t>
            </a:r>
          </a:p>
          <a:p>
            <a:endParaRPr lang="en-IN" sz="1200" dirty="0" smtClean="0"/>
          </a:p>
          <a:p>
            <a:r>
              <a:rPr lang="en-IN" sz="1200" b="1" dirty="0" smtClean="0"/>
              <a:t>USP</a:t>
            </a:r>
            <a:r>
              <a:rPr lang="en-IN" sz="1200" dirty="0" smtClean="0"/>
              <a:t> </a:t>
            </a:r>
          </a:p>
          <a:p>
            <a:r>
              <a:rPr lang="en-IN" sz="1200" dirty="0" smtClean="0"/>
              <a:t>Contextual </a:t>
            </a:r>
            <a:r>
              <a:rPr lang="en-IN" sz="1200" dirty="0"/>
              <a:t>rural intelligence + explainable AI + scalable </a:t>
            </a:r>
            <a:r>
              <a:rPr lang="en-IN" sz="1200" dirty="0" err="1"/>
              <a:t>fintech</a:t>
            </a:r>
            <a:r>
              <a:rPr lang="en-IN" sz="1200" dirty="0"/>
              <a:t> integration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813" y="680484"/>
            <a:ext cx="4819650" cy="2400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</a:t>
            </a:r>
            <a:r>
              <a:rPr lang="en-GB" sz="1700" b="1" dirty="0" smtClean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solution</a:t>
            </a:r>
            <a:endParaRPr lang="en-GB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endParaRPr lang="en-IN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/>
              <a:t>Alternative </a:t>
            </a:r>
            <a:r>
              <a:rPr lang="en-IN" dirty="0"/>
              <a:t>credit scoring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/>
              <a:t>Climate </a:t>
            </a:r>
            <a:r>
              <a:rPr lang="en-IN" dirty="0"/>
              <a:t>risk impact </a:t>
            </a:r>
            <a:r>
              <a:rPr lang="en-IN" dirty="0" err="1"/>
              <a:t>modeling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/>
              <a:t>Seasonality-adjusted </a:t>
            </a:r>
            <a:r>
              <a:rPr lang="en-IN" dirty="0"/>
              <a:t>repayment capacity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/>
              <a:t>SHAP-based </a:t>
            </a:r>
            <a:r>
              <a:rPr lang="en-IN" dirty="0" err="1"/>
              <a:t>explainability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/>
              <a:t>Loan </a:t>
            </a:r>
            <a:r>
              <a:rPr lang="en-IN" dirty="0"/>
              <a:t>officer dashboard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/>
              <a:t>Risk </a:t>
            </a:r>
            <a:r>
              <a:rPr lang="en-IN" dirty="0"/>
              <a:t>simulation tool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/>
              <a:t>API </a:t>
            </a:r>
            <a:r>
              <a:rPr lang="en-IN" dirty="0"/>
              <a:t>integration support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352" y="1237876"/>
            <a:ext cx="3409950" cy="2400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1515223"/>
            <a:ext cx="8148403" cy="30179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(optional)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575353"/>
            <a:ext cx="7531800" cy="395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</a:t>
            </a:r>
            <a:r>
              <a:rPr lang="en-GB" sz="1700" b="1" dirty="0" smtClean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 </a:t>
            </a:r>
            <a:r>
              <a:rPr lang="en-GB" sz="1200" dirty="0" smtClean="0">
                <a:solidFill>
                  <a:srgbClr val="FF0000"/>
                </a:solidFill>
                <a:latin typeface="Manrope"/>
                <a:ea typeface="Manrope"/>
                <a:cs typeface="Manrope"/>
                <a:sym typeface="Manrope"/>
              </a:rPr>
              <a:t>Attached the architecture details </a:t>
            </a:r>
            <a:r>
              <a:rPr lang="en-GB" sz="1200" dirty="0" err="1" smtClean="0">
                <a:solidFill>
                  <a:srgbClr val="FF0000"/>
                </a:solidFill>
                <a:latin typeface="Manrope"/>
                <a:ea typeface="Manrope"/>
                <a:cs typeface="Manrope"/>
                <a:sym typeface="Manrope"/>
              </a:rPr>
              <a:t>png</a:t>
            </a:r>
            <a:r>
              <a:rPr lang="en-GB" sz="1200" dirty="0" smtClean="0">
                <a:solidFill>
                  <a:srgbClr val="FF0000"/>
                </a:solidFill>
                <a:latin typeface="Manrope"/>
                <a:ea typeface="Manrope"/>
                <a:cs typeface="Manrope"/>
                <a:sym typeface="Manrope"/>
              </a:rPr>
              <a:t> file in the </a:t>
            </a:r>
            <a:r>
              <a:rPr lang="en-GB" sz="1200" dirty="0" err="1">
                <a:solidFill>
                  <a:srgbClr val="FF0000"/>
                </a:solidFill>
                <a:latin typeface="Manrope"/>
                <a:ea typeface="Manrope"/>
                <a:cs typeface="Manrope"/>
                <a:sym typeface="Manrope"/>
              </a:rPr>
              <a:t>G</a:t>
            </a:r>
            <a:r>
              <a:rPr lang="en-GB" sz="1200" dirty="0" err="1" smtClean="0">
                <a:solidFill>
                  <a:srgbClr val="FF0000"/>
                </a:solidFill>
                <a:latin typeface="Manrope"/>
                <a:ea typeface="Manrope"/>
                <a:cs typeface="Manrope"/>
                <a:sym typeface="Manrope"/>
              </a:rPr>
              <a:t>itRepo</a:t>
            </a:r>
            <a:r>
              <a:rPr lang="en-GB" sz="1200" dirty="0" smtClean="0">
                <a:solidFill>
                  <a:srgbClr val="FF0000"/>
                </a:solidFill>
                <a:latin typeface="Manrope"/>
                <a:ea typeface="Manrope"/>
                <a:cs typeface="Manrope"/>
                <a:sym typeface="Manrope"/>
              </a:rPr>
              <a:t> for reference.</a:t>
            </a:r>
            <a:endParaRPr sz="1200" dirty="0">
              <a:solidFill>
                <a:srgbClr val="FF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706" y="1214386"/>
            <a:ext cx="6425666" cy="38166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</a:t>
            </a:r>
            <a:r>
              <a:rPr lang="en-GB" sz="1700" b="1" dirty="0" smtClean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 </a:t>
            </a:r>
            <a:r>
              <a:rPr lang="en-IN" dirty="0"/>
              <a:t>Python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err="1" smtClean="0"/>
              <a:t>XGBoost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SHAP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AWS </a:t>
            </a:r>
            <a:r>
              <a:rPr lang="en-IN" dirty="0" err="1"/>
              <a:t>SageMaker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AWS </a:t>
            </a:r>
            <a:r>
              <a:rPr lang="en-IN" dirty="0"/>
              <a:t>Lambda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RDS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React </a:t>
            </a:r>
            <a:r>
              <a:rPr lang="en-IN" dirty="0"/>
              <a:t>(Dashboard)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REST </a:t>
            </a:r>
            <a:r>
              <a:rPr lang="en-IN" dirty="0"/>
              <a:t>APIs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6551437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</a:t>
            </a:r>
            <a:r>
              <a:rPr lang="en-GB" sz="1700" b="1" dirty="0" smtClean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):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 err="1" smtClean="0"/>
              <a:t>Hackathon</a:t>
            </a:r>
            <a:r>
              <a:rPr lang="en-IN" b="1" dirty="0" smtClean="0"/>
              <a:t> </a:t>
            </a:r>
            <a:r>
              <a:rPr lang="en-IN" b="1" dirty="0"/>
              <a:t>MVP (Cloud Credits / Sandbox Mode</a:t>
            </a:r>
            <a:r>
              <a:rPr lang="en-IN" b="1" dirty="0" smtClean="0"/>
              <a:t>):</a:t>
            </a:r>
            <a:endParaRPr lang="en-IN" dirty="0"/>
          </a:p>
          <a:p>
            <a:pPr lvl="3"/>
            <a:r>
              <a:rPr lang="en-IN" dirty="0"/>
              <a:t> </a:t>
            </a:r>
            <a:r>
              <a:rPr lang="en-IN" dirty="0" smtClean="0"/>
              <a:t>       </a:t>
            </a:r>
          </a:p>
          <a:p>
            <a:pPr lvl="3"/>
            <a:r>
              <a:rPr lang="en-IN" dirty="0" smtClean="0"/>
              <a:t>	~₹</a:t>
            </a:r>
            <a:r>
              <a:rPr lang="en-IN" dirty="0"/>
              <a:t>50,000 </a:t>
            </a:r>
            <a:r>
              <a:rPr lang="en-IN" dirty="0" smtClean="0"/>
              <a:t>- </a:t>
            </a:r>
            <a:r>
              <a:rPr lang="en-IN" dirty="0"/>
              <a:t>₹1,00,000 </a:t>
            </a:r>
            <a:r>
              <a:rPr lang="en-IN" dirty="0" smtClean="0"/>
              <a:t>equivalent </a:t>
            </a:r>
            <a:r>
              <a:rPr lang="en-IN" dirty="0"/>
              <a:t>cloud infrastructure cost</a:t>
            </a:r>
          </a:p>
          <a:p>
            <a:endParaRPr lang="en-IN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 smtClean="0"/>
              <a:t>Pilot </a:t>
            </a:r>
            <a:r>
              <a:rPr lang="en-IN" b="1" dirty="0"/>
              <a:t>Deployment (Single Bank / 5 Branches</a:t>
            </a:r>
            <a:r>
              <a:rPr lang="en-IN" b="1" dirty="0" smtClean="0"/>
              <a:t>):</a:t>
            </a:r>
          </a:p>
          <a:p>
            <a:endParaRPr lang="en-IN" b="1" dirty="0"/>
          </a:p>
          <a:p>
            <a:r>
              <a:rPr lang="en-IN" b="1" dirty="0" smtClean="0"/>
              <a:t>	~ </a:t>
            </a:r>
            <a:r>
              <a:rPr lang="en-IN" dirty="0" smtClean="0"/>
              <a:t>₹3–5 </a:t>
            </a:r>
            <a:r>
              <a:rPr lang="en-IN" dirty="0"/>
              <a:t>lakh initial setup cost</a:t>
            </a:r>
          </a:p>
          <a:p>
            <a:endParaRPr lang="en-IN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 smtClean="0"/>
              <a:t>Scalable </a:t>
            </a:r>
            <a:r>
              <a:rPr lang="en-IN" b="1" dirty="0"/>
              <a:t>SaaS Model</a:t>
            </a:r>
            <a:r>
              <a:rPr lang="en-IN" b="1" dirty="0" smtClean="0"/>
              <a:t>: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	Operational </a:t>
            </a:r>
            <a:r>
              <a:rPr lang="en-IN" dirty="0"/>
              <a:t>cost scales per API usage (~₹30–₹50 per assessment)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endParaRPr lang="en-IN" dirty="0" smtClean="0"/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b="1" u="sng" dirty="0" smtClean="0"/>
              <a:t>One </a:t>
            </a:r>
            <a:r>
              <a:rPr lang="en-IN" b="1" u="sng" dirty="0"/>
              <a:t>avoided NPA can offset the cost of over 10,000 credit assessments.</a:t>
            </a:r>
            <a:endParaRPr b="1" u="sng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 as per the requirements for the hackathon: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329</Words>
  <Application>Microsoft Office PowerPoint</Application>
  <PresentationFormat>On-screen Show (16:9)</PresentationFormat>
  <Paragraphs>65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Manrope</vt:lpstr>
      <vt:lpstr>Manrope SemiBold</vt:lpstr>
      <vt:lpstr>Wingdings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ROHIT KUMAR AKULA</cp:lastModifiedBy>
  <cp:revision>12</cp:revision>
  <dcterms:modified xsi:type="dcterms:W3CDTF">2026-02-12T14:21:54Z</dcterms:modified>
</cp:coreProperties>
</file>